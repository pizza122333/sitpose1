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76" r:id="rId26"/>
  </p:sldIdLst>
  <p:sldSz cx="12192000" cy="6858000"/>
  <p:notesSz cx="6858000" cy="9144000"/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1.xml"  /><Relationship Id="rId30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lvl="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 idx="0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lvl="0"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 idx="0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lvl="0"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lvl="0"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lvl="0"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lvl="0" indent="0" algn="r">
              <a:buNone/>
              <a:defRPr/>
            </a:pPr>
            <a:fld id="{93F2A867-6839-4AE2-AD83-5ACC41B7E1D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pPr lvl="0" indent="0" algn="r">
                <a:buNone/>
                <a:defRPr/>
              </a:p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PRESENTATION_NOTES.md (2026-09-29),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교수님 피드백 정리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feedback.md. SitPose: arXiv 2412.12216v1 (2024).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1.xml"  /><Relationship Id="rId2" Type="http://schemas.openxmlformats.org/officeDocument/2006/relationships/slideLayout" Target="../slideLayouts/slideLayout1.xml" 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바른자세 프로젝트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| </a:t>
            </a: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이번 주차 발표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23960" y="1390680"/>
            <a:ext cx="106675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217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교수님 피드백 → 측정 방법 개선 → 자세 변화 실험 → 다음 계획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23960" y="2523960"/>
            <a:ext cx="106675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950" b="0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이번 주 핵심</a:t>
            </a:r>
            <a:r>
              <a:rPr lang="en-US" sz="1950" b="0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: </a:t>
            </a:r>
            <a:r>
              <a:rPr lang="zh-CN" sz="1950" b="0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자세를 바꾸면 우리가 만든 측정값도 예상한 방향으로 달라지는가</a:t>
            </a:r>
            <a:r>
              <a:rPr lang="en-US" sz="1950" b="0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?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23960" y="3657600"/>
            <a:ext cx="106675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58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기준 논문</a:t>
            </a:r>
            <a:r>
              <a:rPr lang="en-US" sz="158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: SitPose (2024)  |  2026. 09. 29.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발표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순서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9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23960" y="1390680"/>
            <a:ext cx="106675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리마인드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: </a:t>
            </a: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공개 데이터는 구현 확인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, </a:t>
            </a: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자체 촬영 데이터는 실제 검증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23960" y="2038320"/>
            <a:ext cx="10667520" cy="5140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파트 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1: </a:t>
            </a:r>
            <a:r>
              <a:rPr lang="ko-KR" alt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교수님 피드백 </a:t>
            </a:r>
            <a:r>
              <a:rPr lang="en-US" altLang="ko-KR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4</a:t>
            </a:r>
            <a:r>
              <a:rPr lang="ko-KR" alt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가지와 반영 현황</a:t>
            </a:r>
            <a:endParaRPr lang="ko-KR" altLang="en-US" sz="1729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2" name=""/>
          <p:cNvSpPr/>
          <p:nvPr/>
        </p:nvSpPr>
        <p:spPr>
          <a:xfrm>
            <a:off x="723960" y="2685960"/>
            <a:ext cx="10667520" cy="5140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파트 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2: </a:t>
            </a:r>
            <a:r>
              <a:rPr lang="ko-KR" alt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이번 주 실험 </a:t>
            </a:r>
            <a:r>
              <a:rPr lang="en-US" altLang="ko-KR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6</a:t>
            </a:r>
            <a:r>
              <a:rPr lang="ko-KR" alt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가지와 수치 근거</a:t>
            </a:r>
            <a:endParaRPr lang="ko-KR" altLang="en-US" sz="1729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3" name=""/>
          <p:cNvSpPr/>
          <p:nvPr/>
        </p:nvSpPr>
        <p:spPr>
          <a:xfrm>
            <a:off x="723960" y="3333600"/>
            <a:ext cx="10667520" cy="5140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한계와 다음 계획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더 많은 자세 데이터를 모아 정상·주의·경고를 구분하는 기준 만들기</a:t>
            </a:r>
            <a:endParaRPr lang="ko-KR" altLang="en-US" sz="1729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4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지금까지의 진행 상황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6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23960" y="1390680"/>
            <a:ext cx="10667520" cy="809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1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단계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SitPose 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공개 데이터 약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5,746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개로 모델 코드가 작동하는지 확인</a:t>
            </a:r>
            <a:endParaRPr lang="zh-CN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8" name=""/>
          <p:cNvSpPr/>
          <p:nvPr/>
        </p:nvSpPr>
        <p:spPr>
          <a:xfrm>
            <a:off x="723960" y="2333520"/>
            <a:ext cx="10667520" cy="10951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2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단계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</a:t>
            </a:r>
            <a:r>
              <a:rPr lang="en-US" altLang="ko-KR" sz="172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Depth </a:t>
            </a: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카메라와 MoveNet으로 우리 팀이 직접 자세를 촬영하고, 자세를 바꿀 때 측정값이 어떻게 달라지는지 확인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723960" y="3562200"/>
            <a:ext cx="1066752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729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현재는 정상</a:t>
            </a:r>
            <a:r>
              <a:rPr lang="en-US" sz="1729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729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주의</a:t>
            </a:r>
            <a:r>
              <a:rPr lang="en-US" sz="1729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729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경고를 최종 판정하는 단계가 아닙니다</a:t>
            </a:r>
            <a:r>
              <a:rPr lang="en-US" sz="1729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23960" y="4505400"/>
            <a:ext cx="10667520" cy="9522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58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공개 데이터의 </a:t>
            </a:r>
            <a:r>
              <a:rPr lang="ko-KR" altLang="en-US" sz="158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높은 점수는 프로그램이 제대로 작동하는지 확인한 결과입니다. 우리가 직접 촬영한 데이터에서도 얼마나 정확한지는 앞으로 확인할 예정입니다.</a:t>
            </a:r>
            <a:endParaRPr lang="ko-KR" altLang="en-US" sz="1580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31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이번 주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 진행 내용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33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23960" y="1390680"/>
            <a:ext cx="10667520" cy="10472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측정값 설계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머리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와 몸통이 앞뒤로 얼마나 떨어져 있는지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,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몸통이 얼마나 기울었는지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,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양쪽 어깨 높이가 얼마나 다른지 측정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35" name=""/>
          <p:cNvSpPr/>
          <p:nvPr/>
        </p:nvSpPr>
        <p:spPr>
          <a:xfrm>
            <a:off x="723960" y="2571840"/>
            <a:ext cx="10667520" cy="9522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측정 신뢰도 개선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화면 속 위치를 나타내는 픽셀과 실제 거리를 나타내는 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mm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를 섞어 계산하던 문제를 고치고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,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카메라가 거리를 측정하지 못해 0으로 표시한 값도 제외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36" name=""/>
          <p:cNvSpPr/>
          <p:nvPr/>
        </p:nvSpPr>
        <p:spPr>
          <a:xfrm>
            <a:off x="723960" y="3657600"/>
            <a:ext cx="10667520" cy="10951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작은 규모 실험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팀원 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2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명이 자세를 바꿔가며 측정값의 변화를 확인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37" name=""/>
          <p:cNvSpPr/>
          <p:nvPr/>
        </p:nvSpPr>
        <p:spPr>
          <a:xfrm>
            <a:off x="723960" y="4886280"/>
            <a:ext cx="10667520" cy="809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04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파트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1 |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교수님 피드백과 반영 현황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40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723960" y="1390680"/>
            <a:ext cx="106675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① 깊이값을 이용해 머리와 몸통의 앞뒤 차이를 측정하고 실제 데이터로 확인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23960" y="2428920"/>
            <a:ext cx="10667520" cy="7808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②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앉은 자세를 확인하는 데 필요한 신체 부위만 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MoveNet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으로 살펴보기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43" name=""/>
          <p:cNvSpPr/>
          <p:nvPr/>
        </p:nvSpPr>
        <p:spPr>
          <a:xfrm>
            <a:off x="723960" y="3343320"/>
            <a:ext cx="10667520" cy="7808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③ 어깨와 엉덩이 사이에서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허리가 어디쯤인지 추정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44" name=""/>
          <p:cNvSpPr/>
          <p:nvPr/>
        </p:nvSpPr>
        <p:spPr>
          <a:xfrm>
            <a:off x="723960" y="4257720"/>
            <a:ext cx="10667520" cy="9522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④ 공개 데이터는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프로그램이 제대로 작동하는지 확인하는데에 사용하고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,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본격적인 실험에는 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직접 촬영한 데이터로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실험 진행</a:t>
            </a:r>
            <a:endParaRPr lang="zh-CN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45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① 머리와 몸통의 앞뒤 거리 차이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23960" y="1390680"/>
            <a:ext cx="10667520" cy="7808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거북목 판정 기준을 임의로 정하지 </a:t>
            </a:r>
            <a:r>
              <a:rPr lang="ko-KR" alt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않</a:t>
            </a: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고 직접 측정해 확인</a:t>
            </a:r>
            <a:endParaRPr lang="zh-CN" sz="1729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49" name=""/>
          <p:cNvSpPr/>
          <p:nvPr/>
        </p:nvSpPr>
        <p:spPr>
          <a:xfrm>
            <a:off x="723960" y="2305080"/>
            <a:ext cx="106675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2100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머리</a:t>
            </a:r>
            <a:r>
              <a:rPr lang="en-US" sz="2100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2100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몸통 깊이 차이 </a:t>
            </a:r>
            <a:r>
              <a:rPr lang="en-US" sz="2100" b="1" u="none" strike="noStrike">
                <a:solidFill>
                  <a:srgbClr val="087F8C"/>
                </a:solidFill>
                <a:effectLst/>
                <a:uFillTx/>
                <a:latin typeface="Malgun Gothic"/>
                <a:ea typeface="Noto Sans CJK KR"/>
              </a:rPr>
              <a:t>(head_torso_depth_diff)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23960" y="3086280"/>
            <a:ext cx="106675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80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카메라에서 코까지의 거리 − 카메라에서 양쪽 어깨 가운데까지의 거리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23960" y="3981600"/>
            <a:ext cx="10667520" cy="8568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값이 더 큰 음수가 되면 코가 어깨보다 카메라 쪽으로 더 나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왔다는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뜻입니다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.</a:t>
            </a:r>
            <a:endParaRPr 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52" name=""/>
          <p:cNvSpPr/>
          <p:nvPr/>
        </p:nvSpPr>
        <p:spPr>
          <a:xfrm>
            <a:off x="723960" y="497196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58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아직 몇 </a:t>
            </a:r>
            <a:r>
              <a:rPr lang="en-US" sz="158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mm</a:t>
            </a:r>
            <a:r>
              <a:rPr lang="zh-CN" sz="158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부터 거북목으로 판정할지는 결정하지 않았습니다</a:t>
            </a:r>
            <a:r>
              <a:rPr lang="en-US" sz="158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  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거북목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정도에 따라 측정값이 어떻게 달라졌나</a:t>
            </a:r>
            <a:r>
              <a:rPr lang="en-US" altLang="ko-KR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?</a:t>
            </a:r>
            <a:endParaRPr lang="en-US" altLang="ko-KR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55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781200" y="1447920"/>
            <a:ext cx="2990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촬영 자세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924360" y="1447920"/>
            <a:ext cx="3609720" cy="3996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사용자</a:t>
            </a:r>
            <a:r>
              <a:rPr lang="en-US" altLang="ko-KR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1</a:t>
            </a:r>
            <a:r>
              <a:rPr lang="ko-KR" alt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정상 대비 변화</a:t>
            </a:r>
            <a:endParaRPr lang="zh-CN" sz="143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59" name=""/>
          <p:cNvSpPr/>
          <p:nvPr/>
        </p:nvSpPr>
        <p:spPr>
          <a:xfrm>
            <a:off x="7686720" y="1447920"/>
            <a:ext cx="3609720" cy="3996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사용자</a:t>
            </a:r>
            <a:r>
              <a:rPr lang="en-US" altLang="ko-KR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2</a:t>
            </a:r>
            <a:r>
              <a:rPr lang="ko-KR" alt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정상 대비 변화</a:t>
            </a:r>
            <a:endParaRPr lang="zh-CN" sz="143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60" name=""/>
          <p:cNvSpPr/>
          <p:nvPr/>
        </p:nvSpPr>
        <p:spPr>
          <a:xfrm>
            <a:off x="704880" y="190512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90560" y="1933560"/>
            <a:ext cx="2971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약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933720" y="1933560"/>
            <a:ext cx="3590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−43.0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696080" y="1933560"/>
            <a:ext cx="3590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−14.8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04880" y="249552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90560" y="2523960"/>
            <a:ext cx="2971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중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933720" y="2523960"/>
            <a:ext cx="3590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−65.0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696080" y="2523960"/>
            <a:ext cx="3590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−45.5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04880" y="308628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90560" y="3114720"/>
            <a:ext cx="2971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933720" y="3114720"/>
            <a:ext cx="3590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−82.5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696080" y="3114720"/>
            <a:ext cx="3590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−59.0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14240" y="3790800"/>
            <a:ext cx="10572480" cy="647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목적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거북목 자세</a:t>
            </a: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를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약하게</a:t>
            </a:r>
            <a:r>
              <a:rPr lang="en-US" altLang="ko-KR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,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 중간 정도</a:t>
            </a:r>
            <a:r>
              <a:rPr lang="en-US" altLang="ko-KR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,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 강하게 할수록 측정값이 </a:t>
            </a: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일관되게 변하는지 확인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.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결과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두 사람 모두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자세의 강도를 높일수록 </a:t>
            </a: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값이 더 음수가 됨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.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다만 몇 mm부터 거북목이라고 판단할지는 더 많은 데이터를 수집한 후 정해야 함</a:t>
            </a:r>
            <a:r>
              <a:rPr lang="en-US" altLang="ko-KR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.</a:t>
            </a:r>
            <a:endParaRPr lang="en-US" altLang="ko-KR" sz="1350" b="0" u="none" strike="noStrike">
              <a:solidFill>
                <a:srgbClr val="526576"/>
              </a:solidFill>
              <a:effectLst/>
              <a:uFillTx/>
              <a:latin typeface="맑은 고딕"/>
              <a:ea typeface="Noto Sans CJK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②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앉은 자세를 분석할 때 MoveNet을 어떻게 사용할까?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74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723960" y="1390680"/>
            <a:ext cx="10667520" cy="76176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목적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책상에서 앉은 자세를 측정할 </a:t>
            </a:r>
            <a:r>
              <a:rPr lang="ko-KR" alt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때 자세 확인에 필요한 신체 부위만 사용</a:t>
            </a:r>
            <a:endParaRPr lang="ko-KR" altLang="en-US" sz="1729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76" name=""/>
          <p:cNvSpPr/>
          <p:nvPr/>
        </p:nvSpPr>
        <p:spPr>
          <a:xfrm>
            <a:off x="723960" y="2286000"/>
            <a:ext cx="10667520" cy="8568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전체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17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개 중 상반신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7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개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코 1, 양쪽 어깨 2, 양쪽 팔꿈치 2, 양쪽 엉덩이 2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77" name=""/>
          <p:cNvSpPr/>
          <p:nvPr/>
        </p:nvSpPr>
        <p:spPr>
          <a:xfrm>
            <a:off x="723960" y="3276720"/>
            <a:ext cx="10667520" cy="8568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MoveNet이 코나 어깨 같은 신체 부위를 카메라가 잘 찾지 못한 장면은 분석에서 제외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.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잘 찾았는지 판단하는 기준을 0.3으로 정함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.</a:t>
            </a:r>
            <a:endParaRPr lang="en-US" altLang="ko-KR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78" name=""/>
          <p:cNvSpPr/>
          <p:nvPr/>
        </p:nvSpPr>
        <p:spPr>
          <a:xfrm>
            <a:off x="723960" y="4267080"/>
            <a:ext cx="106675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빠른 모델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(Lightning)</a:t>
            </a: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과 정확도 중심 모델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(Thunder)</a:t>
            </a: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을 선택할 수 있게 구현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723960" y="5353200"/>
            <a:ext cx="10667520" cy="9046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의미</a:t>
            </a:r>
            <a:r>
              <a:rPr 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모델을 골라 사용할 수 있도록 만들었지만, 어느 모델이 더 빠르고 정확한지는 아직 직접 비교하지 못했습니다. 카메라를 다시 사용할 수 있게 되면 비교할 예정입니다.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08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③ 가상의 허리 위치 추정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723960" y="1390680"/>
            <a:ext cx="10667520" cy="9997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목적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MoveNet</a:t>
            </a:r>
            <a:r>
              <a:rPr lang="ko-KR" alt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은 허리 위치를 직접 표시해 주지 않아서, 어깨와 엉덩이 사이에서 허리가 어디쯤인지 추정</a:t>
            </a:r>
            <a:endParaRPr lang="en-US" altLang="ko-KR" sz="1729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84" name=""/>
          <p:cNvSpPr/>
          <p:nvPr/>
        </p:nvSpPr>
        <p:spPr>
          <a:xfrm>
            <a:off x="723960" y="2523960"/>
            <a:ext cx="10667520" cy="9997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현재는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양쪽 어깨의 중점과 양쪽 엉덩이의 중점을 이은 뒤, 그 중간을 임시 허리 위치로 정함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85" name=""/>
          <p:cNvSpPr/>
          <p:nvPr/>
        </p:nvSpPr>
        <p:spPr>
          <a:xfrm>
            <a:off x="723960" y="3657600"/>
            <a:ext cx="10667520" cy="7138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이 위치를 이용해 허리가 얼마나 기울었는지 계산하도록 만듦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86" name=""/>
          <p:cNvSpPr/>
          <p:nvPr/>
        </p:nvSpPr>
        <p:spPr>
          <a:xfrm>
            <a:off x="723960" y="4505400"/>
            <a:ext cx="10667520" cy="9997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의미</a:t>
            </a:r>
            <a:r>
              <a:rPr lang="ko-KR" alt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지금은 어깨와 엉덩이 사이의 정확히 중점을 허리 위치로 임시로 정했습니다. 이 위치가 실제 허리와 얼마나 맞는지는 직접 재거나, 앞으로 모을 데이터를 살펴보며 확인할 예정입니다</a:t>
            </a:r>
            <a:endParaRPr lang="ko-KR" altLang="en-US" sz="1580" b="0" u="none" strike="noStrike">
              <a:solidFill>
                <a:srgbClr val="087f8c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87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09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④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직접 촬영한 자세로 실험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하기</a:t>
            </a:r>
            <a:endParaRPr 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89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23960" y="1390680"/>
            <a:ext cx="106675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목적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: </a:t>
            </a: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공개 데이터만으로 연구 결과를 내지 않고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, </a:t>
            </a: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실제 장비로 직접 촬영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23960" y="2428920"/>
            <a:ext cx="10667520" cy="809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SitPose 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공개 데이터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우리가 만든 자세 분석 프로그램이 제대로 작동하는지 확인하는 데만 사용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92" name=""/>
          <p:cNvSpPr/>
          <p:nvPr/>
        </p:nvSpPr>
        <p:spPr>
          <a:xfrm>
            <a:off x="723960" y="3371760"/>
            <a:ext cx="10667520" cy="9522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우리 데이터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RealSense D455 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Depth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카메라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+ MoveNet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으로 본인과 팀원을 촬영</a:t>
            </a:r>
            <a:endParaRPr lang="zh-CN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93" name=""/>
          <p:cNvSpPr/>
          <p:nvPr/>
        </p:nvSpPr>
        <p:spPr>
          <a:xfrm>
            <a:off x="723960" y="4457880"/>
            <a:ext cx="10667520" cy="9997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의미</a:t>
            </a:r>
            <a:r>
              <a:rPr lang="ko-KR" alt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이번에는 두 사람을 촬영해 자세를 바꿨을 때 측정값이 달라지는지 먼저 확인했습니다. 앞으로 더 많은 자세 데이터를 모아 모델을 학습시키고 성능을 비교할 예정입니다.</a:t>
            </a:r>
            <a:endParaRPr lang="ko-KR" altLang="en-US" sz="1580" b="0" u="none" strike="noStrike">
              <a:solidFill>
                <a:srgbClr val="087f8c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94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파트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2 |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이번 주 실험에서 확인한 내용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96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723960" y="1390680"/>
            <a:ext cx="10667520" cy="5713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1: 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공개 데이터로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자세 분석 프로그램이 제대로 작동하는지 확인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98" name=""/>
          <p:cNvSpPr/>
          <p:nvPr/>
        </p:nvSpPr>
        <p:spPr>
          <a:xfrm>
            <a:off x="723960" y="2095560"/>
            <a:ext cx="10667520" cy="5713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2: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같은 자세에서 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카메라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의 거리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만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달라져도 측정값이 바뀌는지 확인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99" name=""/>
          <p:cNvSpPr/>
          <p:nvPr/>
        </p:nvSpPr>
        <p:spPr>
          <a:xfrm>
            <a:off x="723960" y="2800440"/>
            <a:ext cx="10667520" cy="5713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3: 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사람의 체형 차이는 측정값에 영향을 주는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지 확인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00" name=""/>
          <p:cNvSpPr/>
          <p:nvPr/>
        </p:nvSpPr>
        <p:spPr>
          <a:xfrm>
            <a:off x="723960" y="3505320"/>
            <a:ext cx="10667520" cy="7138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4·5: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자세를 바꾸면 측정값도 달라지는지, 다른 사람을 촬영해도 비슷한 변화가 나타나는지 확인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01" name=""/>
          <p:cNvSpPr/>
          <p:nvPr/>
        </p:nvSpPr>
        <p:spPr>
          <a:xfrm>
            <a:off x="723960" y="4352760"/>
            <a:ext cx="10667520" cy="6188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6: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카메라가 거리를 잘못 측정한 값은 빼고, 자세 확인에 도움이 되지 않는 계산은 정리했는지 확인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02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1 | </a:t>
            </a: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공개 데이터로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프로그램 작동 확인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04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81200" y="1447920"/>
            <a:ext cx="7372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모델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305920" y="1447920"/>
            <a:ext cx="2990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F1 </a:t>
            </a: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점수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04880" y="1905120"/>
            <a:ext cx="10667520" cy="543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90560" y="1933560"/>
            <a:ext cx="735300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SVM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315280" y="1933560"/>
            <a:ext cx="29714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96.33%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704880" y="2449440"/>
            <a:ext cx="10667520" cy="54396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790560" y="2477880"/>
            <a:ext cx="7353000" cy="4867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의사결정</a:t>
            </a:r>
            <a:r>
              <a:rPr lang="ko-KR" altLang="en-US" sz="1430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트리</a:t>
            </a:r>
            <a:endParaRPr lang="ko-KR" altLang="en-US" sz="1430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13" name=""/>
          <p:cNvSpPr/>
          <p:nvPr/>
        </p:nvSpPr>
        <p:spPr>
          <a:xfrm>
            <a:off x="8315280" y="2477880"/>
            <a:ext cx="29714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97.68%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04880" y="2993400"/>
            <a:ext cx="10667520" cy="543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90560" y="3022200"/>
            <a:ext cx="735300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MLP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8315280" y="3022200"/>
            <a:ext cx="29714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98.46%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704880" y="3537720"/>
            <a:ext cx="10667520" cy="54396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90560" y="3566520"/>
            <a:ext cx="735300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GBDT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8315280" y="3566520"/>
            <a:ext cx="29714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99.58%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704880" y="4082040"/>
            <a:ext cx="10667520" cy="543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790560" y="4110840"/>
            <a:ext cx="735300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TabNet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8315280" y="4110840"/>
            <a:ext cx="29714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99.61%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704880" y="4626360"/>
            <a:ext cx="10667520" cy="54396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90560" y="4655160"/>
            <a:ext cx="735300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랜덤 포레스트 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(</a:t>
            </a: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추가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8315280" y="4655160"/>
            <a:ext cx="29714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99.83%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04880" y="5170680"/>
            <a:ext cx="10667520" cy="543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90560" y="5199120"/>
            <a:ext cx="7353000" cy="4867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430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소프트보팅</a:t>
            </a:r>
            <a:endParaRPr lang="ko-KR" altLang="en-US" sz="1430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28" name=""/>
          <p:cNvSpPr/>
          <p:nvPr/>
        </p:nvSpPr>
        <p:spPr>
          <a:xfrm>
            <a:off x="8315280" y="5199120"/>
            <a:ext cx="29714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99.67%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714240" y="5829480"/>
            <a:ext cx="10572480" cy="647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목적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SitPose에서 공개한 자세 자료 5,746개를 이용해 프로그램이 제대로 작동하는지 확인했습니다. 표의 점수는 공개 데이터로 시험한 결과입니다. 우리가 직접 촬영한 자료에서도 얼마나 정확한지는 앞으로 확인할 예정입니다.</a:t>
            </a:r>
            <a:endParaRPr lang="ko-KR" altLang="en-US" sz="1350" b="0" u="none" strike="noStrike">
              <a:solidFill>
                <a:srgbClr val="526576"/>
              </a:solidFill>
              <a:effectLst/>
              <a:uFillTx/>
              <a:latin typeface="맑은 고딕"/>
              <a:ea typeface="Noto Sans CJK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 fontScale="92500"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2 |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같은 자세에서 카메라의 거리만 달라져도 측정값이 바뀌는지 확인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31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781200" y="1447920"/>
            <a:ext cx="3419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카메라 거리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352760" y="1447920"/>
            <a:ext cx="3419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오류가 있던 계산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924680" y="1447920"/>
            <a:ext cx="3371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수정한 계산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704880" y="190512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90560" y="1933560"/>
            <a:ext cx="3400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500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4362480" y="1933560"/>
            <a:ext cx="3400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71.0°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7934400" y="1933560"/>
            <a:ext cx="33523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71.1°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704880" y="249552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790560" y="2523960"/>
            <a:ext cx="3400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700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362480" y="2523960"/>
            <a:ext cx="3400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72.2°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934400" y="2523960"/>
            <a:ext cx="33523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71.1°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04880" y="308628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790560" y="3114720"/>
            <a:ext cx="3400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1,000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4362480" y="3114720"/>
            <a:ext cx="3400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74.2°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934400" y="3114720"/>
            <a:ext cx="33523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71.1°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04880" y="367668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790560" y="3705120"/>
            <a:ext cx="3400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1,500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362480" y="3705120"/>
            <a:ext cx="3400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77.4°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7934400" y="3705120"/>
            <a:ext cx="33523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71.1°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714240" y="4381560"/>
            <a:ext cx="10572480" cy="647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 lnSpcReduction="10000"/>
          </a:bodyPr>
          <a:p>
            <a:pPr lvl="0">
              <a:lnSpc>
                <a:spcPct val="100000"/>
              </a:lnSpc>
              <a:defRPr/>
            </a:pP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목적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똑같은 자세에서 카메라만 가까이 또는 멀리 놓는 상황을 숫자로 시험해 봤습니다. 기존 계산법에서는 결과가 최대 6.4도 달라졌지만, 계산법을 고친 뒤에는 카메라 거리와 관계없이 71.1도로 같게 나왔습니다. 화면 속 위치와 실제 거리를 섞어 계산하던 오류를 수정한 결과입니다.</a:t>
            </a:r>
            <a:endParaRPr lang="ko-KR" altLang="en-US" sz="1350" b="0" u="none" strike="noStrike">
              <a:solidFill>
                <a:srgbClr val="526576"/>
              </a:solidFill>
              <a:effectLst/>
              <a:uFillTx/>
              <a:latin typeface="맑은 고딕"/>
              <a:ea typeface="Noto Sans CJK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3 |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사람의 체형 차이는 측정값에 영향을 주는지 확인 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54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781200" y="1447920"/>
            <a:ext cx="6705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조건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639200" y="1447920"/>
            <a:ext cx="3657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머리</a:t>
            </a:r>
            <a:r>
              <a:rPr lang="en-US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몸통 깊이 차이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704880" y="190512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90560" y="1933560"/>
            <a:ext cx="66862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목 길이 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100 mm, </a:t>
            </a: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거리 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800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7648560" y="1933560"/>
            <a:ext cx="3638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−34.2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704880" y="249552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90560" y="2523960"/>
            <a:ext cx="66862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목 길이 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150 mm, </a:t>
            </a: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거리 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800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648560" y="2523960"/>
            <a:ext cx="3638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−51.3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704880" y="308628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790560" y="3114720"/>
            <a:ext cx="66862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같은 사람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, </a:t>
            </a: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거리 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600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7648560" y="3114720"/>
            <a:ext cx="3638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−41.0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04880" y="367668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90560" y="3705120"/>
            <a:ext cx="66862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같은 사람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, </a:t>
            </a: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거리 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900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7648560" y="3705120"/>
            <a:ext cx="3638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−41.0 mm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714240" y="4381560"/>
            <a:ext cx="10572480" cy="647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 lnSpcReduction="10000"/>
          </a:bodyPr>
          <a:p>
            <a:pPr lvl="0">
              <a:lnSpc>
                <a:spcPct val="100000"/>
              </a:lnSpc>
              <a:defRPr/>
            </a:pP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목적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카메라와의 거리, 사람의 목 길이가 측정값에 각각 영향을 주는지 확인했습니다. 같은 사람이 카메라에서 멀어져도 값은 같았지만, 목 길이가 다른 사람은 같은 자세를 해도 값이 달랐습니다. 그래서 각자 바르게 앉은 자세를 20초 동안 먼저 측정하고, 이후의 값을 그 사람의 기준값과 비교하도록 했습니다.</a:t>
            </a:r>
            <a:endParaRPr lang="ko-KR" altLang="en-US" sz="1350" b="0" u="none" strike="noStrike">
              <a:solidFill>
                <a:srgbClr val="526576"/>
              </a:solidFill>
              <a:effectLst/>
              <a:uFillTx/>
              <a:latin typeface="맑은 고딕"/>
              <a:ea typeface="Noto Sans CJK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4 |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자세를 바꾸면 측정값도 달라질까</a:t>
            </a:r>
            <a:r>
              <a:rPr lang="en-US" altLang="ko-KR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?</a:t>
            </a:r>
            <a:endParaRPr lang="en-US" altLang="ko-KR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72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723960" y="1390680"/>
            <a:ext cx="1066752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목적</a:t>
            </a:r>
            <a:r>
              <a:rPr lang="en-US" sz="165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: </a:t>
            </a:r>
            <a:r>
              <a:rPr lang="zh-CN" sz="165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거북목</a:t>
            </a:r>
            <a:r>
              <a:rPr lang="en-US" sz="165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65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앞숙임</a:t>
            </a:r>
            <a:r>
              <a:rPr lang="en-US" sz="165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65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뒤기울임</a:t>
            </a:r>
            <a:r>
              <a:rPr lang="en-US" sz="165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65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왼쪽 기울임을 바꿨을 때 측정값 확인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23960" y="2333520"/>
            <a:ext cx="106675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거북목 약→중→강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: </a:t>
            </a: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머리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몸통 깊이 차이 −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43 → −65 → −82.5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723960" y="3209760"/>
            <a:ext cx="106675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앞숙임 약→강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: </a:t>
            </a: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몸통 앞뒤 기울기 변화 −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44.0 → −111.3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723960" y="4086360"/>
            <a:ext cx="106675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뒤기울임 강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: </a:t>
            </a: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몸통 앞뒤 기울기 변화 −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94.5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723960" y="4867200"/>
            <a:ext cx="106675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왼쪽 기울임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: </a:t>
            </a: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양쪽 어깨 높이 차이 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+24.9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723960" y="5648400"/>
            <a:ext cx="10667520" cy="8568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50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의미</a:t>
            </a:r>
            <a:r>
              <a:rPr lang="en-US" sz="150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50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거북목, 앞으로 숙이기, 뒤로 기대기, 왼쪽으로 기울이기에서 측정값이 달라지는 것을 확인했습니다. 앞으로 숙이기는 처음에 자세 설명이 모호해 예상과 다른 값이 나와, 설명을 분명히 한 뒤 다시 촬영했습니다</a:t>
            </a:r>
            <a:endParaRPr lang="ko-KR" altLang="en-US" sz="1500" b="0" u="none" strike="noStrike">
              <a:solidFill>
                <a:srgbClr val="087f8c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79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5 |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다른 사람을 촬영해도 비슷한 변화가 나타나는지 확인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81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781200" y="1447920"/>
            <a:ext cx="33238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자세 변화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4257720" y="1447920"/>
            <a:ext cx="3323880" cy="3996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사용자</a:t>
            </a:r>
            <a:r>
              <a:rPr lang="en-US" altLang="ko-KR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1</a:t>
            </a:r>
            <a:r>
              <a:rPr lang="ko-KR" alt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정상 대비</a:t>
            </a:r>
            <a:endParaRPr lang="zh-CN" sz="143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85" name=""/>
          <p:cNvSpPr/>
          <p:nvPr/>
        </p:nvSpPr>
        <p:spPr>
          <a:xfrm>
            <a:off x="7734240" y="1447920"/>
            <a:ext cx="3561840" cy="3996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사용자</a:t>
            </a:r>
            <a:r>
              <a:rPr lang="en-US" altLang="ko-KR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2</a:t>
            </a:r>
            <a:r>
              <a:rPr lang="ko-KR" alt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en-US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정상 대비</a:t>
            </a:r>
            <a:endParaRPr lang="zh-CN" sz="143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186" name=""/>
          <p:cNvSpPr/>
          <p:nvPr/>
        </p:nvSpPr>
        <p:spPr>
          <a:xfrm>
            <a:off x="704880" y="190512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790560" y="1933560"/>
            <a:ext cx="3304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거북목 약→중→강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4267080" y="1933560"/>
            <a:ext cx="3304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−43→−65→−82.5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7743960" y="1933560"/>
            <a:ext cx="3543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−14.8→−45.5→−59.0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704880" y="249552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790560" y="2523960"/>
            <a:ext cx="3304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앞숙임 약→강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4267080" y="2523960"/>
            <a:ext cx="3304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−44.0→−111.3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7743960" y="2523960"/>
            <a:ext cx="3543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−0.8→−54.8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704880" y="308628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90560" y="3114720"/>
            <a:ext cx="3304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뒤기울임 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267080" y="3114720"/>
            <a:ext cx="3304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−94.5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7743960" y="3114720"/>
            <a:ext cx="3543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−62.8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704880" y="367668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790560" y="3705120"/>
            <a:ext cx="3304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왼쪽 기울임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4267080" y="3705120"/>
            <a:ext cx="3304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+24.9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7743960" y="3705120"/>
            <a:ext cx="3543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+39.0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714240" y="4381560"/>
            <a:ext cx="10572480" cy="647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목적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이 변화가 한 사람에게만 나타나는지 확인하려고 다른 사용자도 같은 순서로 촬영했습니다. 거북목, 앞으로 숙이기, 뒤로 기대기, 왼쪽으로 기울이기에서 두 사람의 측정값이 같은 방향으로 변했습니다. 표의 숫자 단위는 mm입니다</a:t>
            </a:r>
            <a:endParaRPr lang="ko-KR" altLang="en-US" sz="1350" b="0" u="none" strike="noStrike">
              <a:solidFill>
                <a:srgbClr val="526576"/>
              </a:solidFill>
              <a:effectLst/>
              <a:uFillTx/>
              <a:latin typeface="맑은 고딕"/>
              <a:ea typeface="Noto Sans CJK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실험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6 |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측정 파이프라인 안정화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04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723960" y="1390680"/>
            <a:ext cx="10667520" cy="8568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목적</a:t>
            </a:r>
            <a:r>
              <a:rPr 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729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카메라가 거리를 측정하지 못해 0으로 표시한 장면은 빼고, 자세를 알아보는 데 도움이 되지 않는 계산은 정리</a:t>
            </a:r>
            <a:endParaRPr lang="ko-KR" altLang="en-US" sz="1729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06" name=""/>
          <p:cNvSpPr/>
          <p:nvPr/>
        </p:nvSpPr>
        <p:spPr>
          <a:xfrm>
            <a:off x="723960" y="2381400"/>
            <a:ext cx="10667520" cy="9046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정상적인 자세에서 나오기 어려운 큰 값이 수정 전에는 기록 1,960개 중 72개(3.7%) 있었지만, 잘못된 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Depth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값을 제외한 뒤에는 남은 기록 885개 중 0개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07" name=""/>
          <p:cNvSpPr/>
          <p:nvPr/>
        </p:nvSpPr>
        <p:spPr>
          <a:xfrm>
            <a:off x="723960" y="3419640"/>
            <a:ext cx="10667520" cy="8186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자세를 바꿔도 항상 180도로 나오는 값 하나와, 이미 다른 값으로 확인할 수 있는 중복된 값 하나를 계산에서 제외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08" name=""/>
          <p:cNvSpPr/>
          <p:nvPr/>
        </p:nvSpPr>
        <p:spPr>
          <a:xfrm>
            <a:off x="723960" y="4371840"/>
            <a:ext cx="10667520" cy="7426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몸통이 앞이나 뒤로 기울었는지, 양쪽 어깨의 높이가 다른지, 어깨가 돌아갔는지를 구별하는 측정값 3개를 추가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09" name=""/>
          <p:cNvSpPr/>
          <p:nvPr/>
        </p:nvSpPr>
        <p:spPr>
          <a:xfrm>
            <a:off x="723960" y="5248440"/>
            <a:ext cx="10667520" cy="9522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의미</a:t>
            </a:r>
            <a:r>
              <a:rPr 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: </a:t>
            </a:r>
            <a:r>
              <a:rPr lang="ko-KR" alt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코와 어깨 같은 신체 부위의 원본 위치도 함께 저장했습니다. 나중에 계산 방법을 바꾸더라도 다시 촬영하지 않고 새 방법으로 계산할 수 있습니다.</a:t>
            </a:r>
            <a:endParaRPr lang="ko-KR" altLang="en-US" sz="1580" b="0" u="none" strike="noStrike">
              <a:solidFill>
                <a:srgbClr val="087f8c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10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이번 주 결론과 한계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23960" y="1390680"/>
            <a:ext cx="10667520" cy="10472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2020" b="1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두 사용자가 직접 자세를 바꿔 보니, 자세에 따라 측정값도 달라지는 것을 확인했습니다.</a:t>
            </a:r>
            <a:endParaRPr lang="ko-KR" altLang="en-US" sz="2020" b="1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14" name=""/>
          <p:cNvSpPr/>
          <p:nvPr/>
        </p:nvSpPr>
        <p:spPr>
          <a:xfrm>
            <a:off x="723960" y="2571840"/>
            <a:ext cx="10667520" cy="9997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65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카메라를 가까이 두거나 멀리 두면 계산 결과가 달라지던 </a:t>
            </a:r>
            <a:r>
              <a:rPr lang="zh-CN" sz="165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오류를 수정하고</a:t>
            </a:r>
            <a:r>
              <a:rPr lang="en-US" sz="165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, </a:t>
            </a:r>
            <a:r>
              <a:rPr lang="ko-KR" altLang="en-US" sz="165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또 사람마다 바르게 앉았을 때의 측정값을 먼저 기록해, 이후 자세를 비교하는 기준으로 삼았습니다</a:t>
            </a:r>
            <a:endParaRPr lang="ko-KR" altLang="en-US" sz="1650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15" name=""/>
          <p:cNvSpPr/>
          <p:nvPr/>
        </p:nvSpPr>
        <p:spPr>
          <a:xfrm>
            <a:off x="723960" y="3705120"/>
            <a:ext cx="10667520" cy="99972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65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아직 두 사용자만 촬영했고, 자세마다 촬영한 시간도 20초에서 2분 정도입니다. 이 결과만으로 ‘정상·주의·경고’를 나누는 기준을 정하기에는 자료가 부족합니다.</a:t>
            </a:r>
            <a:endParaRPr lang="ko-KR" altLang="en-US" sz="1650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16" name=""/>
          <p:cNvSpPr/>
          <p:nvPr/>
        </p:nvSpPr>
        <p:spPr>
          <a:xfrm>
            <a:off x="723960" y="4838760"/>
            <a:ext cx="10667520" cy="809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580" b="0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어느 정도의 자세부터 ‘주의’나 ‘경고’로 볼지 아직 정하지 않았습니다. 또 우리가 직접 촬영한 자료로 각 모델이 얼마나 정확하게 자세를 구분하는지도 앞으로 확인해야 합니다.</a:t>
            </a:r>
            <a:endParaRPr lang="ko-KR" altLang="en-US" sz="1580" b="0" u="none" strike="noStrike">
              <a:solidFill>
                <a:srgbClr val="087f8c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17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다음 계획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| </a:t>
            </a: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측정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방법을 확인하고</a:t>
            </a: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 데이터 확대</a:t>
            </a:r>
            <a:endParaRPr lang="zh-CN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19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723960" y="1390680"/>
            <a:ext cx="10667520" cy="8568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임시로 정한 허리 위치가 실제 허리 위치와 맞는지 직접 재 보거나, 앞으로 모을 촬영 자료를 이용해 확인하겠습니다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21" name=""/>
          <p:cNvSpPr/>
          <p:nvPr/>
        </p:nvSpPr>
        <p:spPr>
          <a:xfrm>
            <a:off x="723960" y="2381400"/>
            <a:ext cx="1066752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MoveNet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의 빠른 모델과 정확도 중심 모델을 같은 조건에서 비교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723960" y="3371760"/>
            <a:ext cx="10667520" cy="9522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촬영 구간을 </a:t>
            </a:r>
            <a:r>
              <a:rPr 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1</a:t>
            </a: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분 이상으로 늘리고 반복 촬영 및 빠진 자세 조합 추가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23" name=""/>
          <p:cNvSpPr/>
          <p:nvPr/>
        </p:nvSpPr>
        <p:spPr>
          <a:xfrm>
            <a:off x="723960" y="4457880"/>
            <a:ext cx="10667520" cy="85680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1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이렇게 모은 촬영 자료를 이용해, 나중에 어떤 프로그램이 자세를 더 정확하게 구분하는지 비교하겠습니다.</a:t>
            </a:r>
            <a:endParaRPr lang="ko-KR" altLang="en-US" sz="1729" b="1" u="none" strike="noStrike">
              <a:solidFill>
                <a:srgbClr val="087f8c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24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이후 계획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| </a:t>
            </a: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자세 판정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 기준 만들기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26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723960" y="1390680"/>
            <a:ext cx="10667520" cy="90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데이터를 충분히 모은 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뒤</a:t>
            </a:r>
            <a:r>
              <a:rPr lang="en-US" altLang="ko-KR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,</a:t>
            </a: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바른 자세와 좋지 않은 자세의 측정값이 서로 얼마나 비슷하거나 다른지 살펴보겠습니다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28" name=""/>
          <p:cNvSpPr/>
          <p:nvPr/>
        </p:nvSpPr>
        <p:spPr>
          <a:xfrm>
            <a:off x="723960" y="2428920"/>
            <a:ext cx="10667520" cy="104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1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자세를 평가하는 방법인 RULA를 참고해, 어느 정도부터 ‘정상·주의·경고’로 나눌지 정할 예정입니다</a:t>
            </a:r>
            <a:endParaRPr lang="ko-KR" altLang="en-US" sz="1729" b="1" u="none" strike="noStrike">
              <a:solidFill>
                <a:srgbClr val="087f8c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29" name=""/>
          <p:cNvSpPr/>
          <p:nvPr/>
        </p:nvSpPr>
        <p:spPr>
          <a:xfrm>
            <a:off x="723960" y="3610080"/>
            <a:ext cx="10667520" cy="85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정상·주의·경고 기준을 정한 뒤, 우리가 직접 촬영한 자료로 여러 프로그램을 시험해 어느 것이 자세를 더 정확하게 구분하는지 비교하겠습니다.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30" name=""/>
          <p:cNvSpPr/>
          <p:nvPr/>
        </p:nvSpPr>
        <p:spPr>
          <a:xfrm>
            <a:off x="723960" y="4600440"/>
            <a:ext cx="10667520" cy="809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729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마지막에는 카메라로 자세를 촬영하면 바로 정상·주의·경고를 알려주는 시스템으로 만들겠습니다.</a:t>
            </a:r>
            <a:endParaRPr lang="ko-KR" altLang="en-US" sz="1729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31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전체 로드맵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| </a:t>
            </a: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지금까지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진행한 내용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33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81200" y="1447920"/>
            <a:ext cx="2228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단계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3162240" y="1447920"/>
            <a:ext cx="6609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무엇을 했나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9925200" y="1447920"/>
            <a:ext cx="1371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상태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704880" y="190512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90560" y="1933560"/>
            <a:ext cx="22093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1</a:t>
            </a: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단계 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(v1.0~v1.2)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3171960" y="1933560"/>
            <a:ext cx="65908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SitPose 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공개 자료로 모델 코드 작동 확인</a:t>
            </a: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재사용 구조 정리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9934560" y="193356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완료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04880" y="249552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90560" y="2523960"/>
            <a:ext cx="22093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2</a:t>
            </a:r>
            <a:r>
              <a:rPr lang="zh-CN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단계 </a:t>
            </a: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(v2.0~v2.7)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171960" y="2523960"/>
            <a:ext cx="6590880" cy="53316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en-US" altLang="ko-KR" sz="143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Depth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카메라 촬영</a:t>
            </a: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, 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계산 오류 수정</a:t>
            </a: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, 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두 </a:t>
            </a:r>
            <a:r>
              <a:rPr lang="ko-KR" altLang="en-US" sz="143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사용자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 시험 촬영</a:t>
            </a:r>
            <a:endParaRPr lang="zh-CN" sz="1430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45" name=""/>
          <p:cNvSpPr/>
          <p:nvPr/>
        </p:nvSpPr>
        <p:spPr>
          <a:xfrm>
            <a:off x="9934560" y="252396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완료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714240" y="3200400"/>
            <a:ext cx="10572480" cy="64728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현재는 자세 변화에 측정값이 반응하는지 확인한 단계입니다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. </a:t>
            </a: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공개 자료의 모델 점수는 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참고용이며</a:t>
            </a:r>
            <a:r>
              <a:rPr lang="en-US" altLang="ko-KR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,</a:t>
            </a:r>
            <a:r>
              <a:rPr lang="ko-KR" alt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 </a:t>
            </a: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최종 결과가 아닙니다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맑은 고딕"/>
                <a:ea typeface="Noto Sans CJK KR"/>
              </a:rPr>
              <a:t>.</a:t>
            </a:r>
            <a:endParaRPr lang="en-US" sz="1350" b="0" u="none" strike="noStrike">
              <a:solidFill>
                <a:srgbClr val="526576"/>
              </a:solidFill>
              <a:effectLst/>
              <a:uFillTx/>
              <a:latin typeface="맑은 고딕"/>
              <a:ea typeface="Noto Sans CJK KR"/>
            </a:endParaRPr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전체 로드맵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|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앞으로 진행할 내용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48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781200" y="1447920"/>
            <a:ext cx="2228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단계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3162240" y="1447920"/>
            <a:ext cx="6609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무엇을 할까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9925200" y="1447920"/>
            <a:ext cx="1371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상태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04880" y="190512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790560" y="1933560"/>
            <a:ext cx="22093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v2.8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3171960" y="1933560"/>
            <a:ext cx="65908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임시 허리 위치가 실제 허리와 맞는지 확인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9934560" y="193356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예정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704880" y="249552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790560" y="2523960"/>
            <a:ext cx="22093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v2.9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3171960" y="2523960"/>
            <a:ext cx="65908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MoveNet Lightning·Thunder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의 속도와 정확도 비교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9934560" y="252396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예정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704880" y="308628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790560" y="3114720"/>
            <a:ext cx="22093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v2.10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171960" y="3114720"/>
            <a:ext cx="6590880" cy="53316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143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여러 자세를 1분 이상 반복 촬영, 더 많은 사용자 데이터 수집</a:t>
            </a:r>
            <a:endParaRPr lang="ko-KR" altLang="en-US" sz="1430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64" name=""/>
          <p:cNvSpPr/>
          <p:nvPr/>
        </p:nvSpPr>
        <p:spPr>
          <a:xfrm>
            <a:off x="9934560" y="311472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예정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714240" y="3790800"/>
            <a:ext cx="105724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많은 자세 자료를 모으는 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v2.10</a:t>
            </a: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이 이후 실험의 바탕이 됩니다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89999" tIns="44999" rIns="89999" bIns="44999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전체 로드맵 </a:t>
            </a:r>
            <a:r>
              <a:rPr 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| </a:t>
            </a: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자세 판단 </a:t>
            </a:r>
            <a:r>
              <a:rPr lang="zh-CN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기준 설정부터 최종 시스템까지</a:t>
            </a:r>
            <a:endParaRPr lang="zh-CN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67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24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781200" y="1447920"/>
            <a:ext cx="15141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단계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2448000" y="1447920"/>
            <a:ext cx="7324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무엇을 할까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9925200" y="1447920"/>
            <a:ext cx="1371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43E62"/>
                </a:solidFill>
                <a:effectLst/>
                <a:uFillTx/>
                <a:latin typeface="Malgun Gothic"/>
                <a:ea typeface="Noto Sans CJK KR"/>
              </a:rPr>
              <a:t>상태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704880" y="190512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790560" y="1933560"/>
            <a:ext cx="1495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v3.0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2457360" y="1933560"/>
            <a:ext cx="73054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몸통의 앞뒤 굽힘과 좌우 기울임 등을 더 정확히 구분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9934560" y="193356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예정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704880" y="249552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790560" y="2523960"/>
            <a:ext cx="1495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v3.1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2457360" y="2523960"/>
            <a:ext cx="73054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수집 자료와 </a:t>
            </a: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RULA 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원리를 참고해 정상</a:t>
            </a: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주의</a:t>
            </a: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·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경고 기준 설정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9934560" y="252396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예정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704880" y="308628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790560" y="3114720"/>
            <a:ext cx="1495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v3.2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2457360" y="3114720"/>
            <a:ext cx="73054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직접 촬영한 자료로 모델별 자세 구분 성능 비교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9934560" y="311472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예정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704880" y="3676680"/>
            <a:ext cx="10667520" cy="590040"/>
          </a:xfrm>
          <a:prstGeom prst="rect">
            <a:avLst/>
          </a:prstGeom>
          <a:solidFill>
            <a:srgbClr val="EEF4F7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790560" y="3705120"/>
            <a:ext cx="1495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v4.0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2457360" y="3705120"/>
            <a:ext cx="73054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자체 자료의 최종 실험 결과와 </a:t>
            </a:r>
            <a:r>
              <a:rPr lang="en-US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SitPose </a:t>
            </a: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비교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9934560" y="370512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예정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704880" y="4267080"/>
            <a:ext cx="10667520" cy="5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790560" y="4295880"/>
            <a:ext cx="1495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v4.1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2457360" y="4295880"/>
            <a:ext cx="73054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카메라로 바로 알려주는 실시간 자세 판정 시스템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9934560" y="4295880"/>
            <a:ext cx="1352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12263B"/>
                </a:solidFill>
                <a:effectLst/>
                <a:uFillTx/>
                <a:latin typeface="Malgun Gothic"/>
                <a:ea typeface="Noto Sans CJK KR"/>
              </a:rPr>
              <a:t>예정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714240" y="4971960"/>
            <a:ext cx="105724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이 로드맵은 현재 계획이며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, </a:t>
            </a:r>
            <a:r>
              <a:rPr lang="zh-CN" sz="13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촬영 결과에 따라 세부 방법은 달라질 수 있습니다</a:t>
            </a:r>
            <a:r>
              <a:rPr lang="en-US" sz="13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628560" y="371520"/>
            <a:ext cx="10934280" cy="685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2700" b="1" u="none" strike="noStrike">
                <a:solidFill>
                  <a:srgbClr val="143e62"/>
                </a:solidFill>
                <a:effectLst/>
                <a:uFillTx/>
                <a:latin typeface="맑은 고딕"/>
                <a:ea typeface="Noto Sans CJK KR"/>
              </a:rPr>
              <a:t>요약</a:t>
            </a:r>
            <a:endParaRPr lang="ko-KR" altLang="en-US" sz="2700" b="1" u="none" strike="noStrike">
              <a:solidFill>
                <a:srgbClr val="143e62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33" name=""/>
          <p:cNvSpPr/>
          <p:nvPr/>
        </p:nvSpPr>
        <p:spPr>
          <a:xfrm>
            <a:off x="628560" y="1133640"/>
            <a:ext cx="10934280" cy="37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723960" y="1390680"/>
            <a:ext cx="10667520" cy="952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2170" b="0" u="none" strike="noStrike">
                <a:solidFill>
                  <a:srgbClr val="12263b"/>
                </a:solidFill>
                <a:effectLst/>
                <a:uFillTx/>
                <a:latin typeface="맑은 고딕"/>
                <a:ea typeface="Noto Sans CJK KR"/>
              </a:rPr>
              <a:t>이번 주에는 자세를 바꿨을 때 측정값도 예상한 방향으로 달라지는지 확인했습니다</a:t>
            </a:r>
            <a:endParaRPr lang="ko-KR" altLang="en-US" sz="2170" b="0" u="none" strike="noStrike">
              <a:solidFill>
                <a:srgbClr val="12263b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35" name=""/>
          <p:cNvSpPr/>
          <p:nvPr/>
        </p:nvSpPr>
        <p:spPr>
          <a:xfrm>
            <a:off x="723960" y="2476440"/>
            <a:ext cx="10667520" cy="11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lvl="0">
              <a:lnSpc>
                <a:spcPct val="100000"/>
              </a:lnSpc>
              <a:defRPr/>
            </a:pPr>
            <a:r>
              <a:rPr lang="ko-KR" altLang="en-US" sz="2320" b="1" u="none" strike="noStrike">
                <a:solidFill>
                  <a:srgbClr val="087f8c"/>
                </a:solidFill>
                <a:effectLst/>
                <a:uFillTx/>
                <a:latin typeface="맑은 고딕"/>
                <a:ea typeface="Noto Sans CJK KR"/>
              </a:rPr>
              <a:t>다음 단계에서는 더 많은 사람과 자세를 촬영해 데이터를 늘려 정상·주의·경고를 나누는 판정 기준을 만들고, 프로그램이 얼마나 정확한지 모델 성능을 검증하겠습니다</a:t>
            </a:r>
            <a:endParaRPr lang="ko-KR" altLang="en-US" sz="2320" b="1" u="none" strike="noStrike">
              <a:solidFill>
                <a:srgbClr val="087f8c"/>
              </a:solidFill>
              <a:effectLst/>
              <a:uFillTx/>
              <a:latin typeface="맑은 고딕"/>
              <a:ea typeface="Noto Sans CJK KR"/>
            </a:endParaRPr>
          </a:p>
        </p:txBody>
      </p:sp>
      <p:sp>
        <p:nvSpPr>
          <p:cNvPr id="237" name=""/>
          <p:cNvSpPr/>
          <p:nvPr/>
        </p:nvSpPr>
        <p:spPr>
          <a:xfrm>
            <a:off x="11125080" y="6343560"/>
            <a:ext cx="475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26576"/>
                </a:solidFill>
                <a:effectLst/>
                <a:uFillTx/>
                <a:latin typeface="Malgun Gothic"/>
                <a:ea typeface="Noto Sans CJK KR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1523</ep:Words>
  <ep:PresentationFormat/>
  <ep:Paragraphs>286</ep:Paragraphs>
  <ep:Slides>24</ep:Slides>
  <ep:Notes>21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2026-09-29T15:22:36.000</dcterms:created>
  <dc:creator>Walnut Exporter</dc:creator>
  <cp:lastModifiedBy>chy73</cp:lastModifiedBy>
  <dcterms:modified xsi:type="dcterms:W3CDTF">2026-09-30T01:43:54.948</dcterms:modified>
  <cp:revision>34</cp:revision>
  <dc:title>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